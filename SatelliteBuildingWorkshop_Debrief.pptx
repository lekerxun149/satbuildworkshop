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7" r:id="rId5"/>
  </p:sldMasterIdLst>
  <p:notesMasterIdLst>
    <p:notesMasterId r:id="rId16"/>
  </p:notesMasterIdLst>
  <p:sldIdLst>
    <p:sldId id="256" r:id="rId6"/>
    <p:sldId id="363" r:id="rId7"/>
    <p:sldId id="269" r:id="rId8"/>
    <p:sldId id="366" r:id="rId9"/>
    <p:sldId id="360" r:id="rId10"/>
    <p:sldId id="268" r:id="rId11"/>
    <p:sldId id="361" r:id="rId12"/>
    <p:sldId id="364" r:id="rId13"/>
    <p:sldId id="365" r:id="rId14"/>
    <p:sldId id="362" r:id="rId15"/>
  </p:sldIdLst>
  <p:sldSz cx="12192000" cy="6858000"/>
  <p:notesSz cx="8229600" cy="14630400"/>
  <p:embeddedFontLst>
    <p:embeddedFont>
      <p:font typeface="Barlow Bold" panose="020B0604020202020204" charset="0"/>
      <p:bold r:id="rId17"/>
    </p:embeddedFont>
    <p:embeddedFont>
      <p:font typeface="Nunito" pitchFamily="2" charset="0"/>
      <p:regular r:id="rId18"/>
      <p:bold r:id="rId19"/>
      <p:italic r:id="rId20"/>
      <p:boldItalic r:id="rId21"/>
    </p:embeddedFont>
    <p:embeddedFont>
      <p:font typeface="Nunito Bold" charset="0"/>
      <p:bold r:id="rId22"/>
    </p:embeddedFont>
    <p:embeddedFont>
      <p:font typeface="Raleway" pitchFamily="2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76197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80985" algn="l" defTabSz="76197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61970" algn="l" defTabSz="76197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42954" algn="l" defTabSz="76197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523939" algn="l" defTabSz="76197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904924" algn="l" defTabSz="76197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285909" algn="l" defTabSz="76197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666893" algn="l" defTabSz="76197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3047878" algn="l" defTabSz="76197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74D"/>
    <a:srgbClr val="FFCE00"/>
    <a:srgbClr val="DFE7EC"/>
    <a:srgbClr val="435F73"/>
    <a:srgbClr val="FFCD00"/>
    <a:srgbClr val="00264D"/>
    <a:srgbClr val="435E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4A7549-2546-46DB-8AB9-E98B344F5F7C}" v="11" dt="2026-06-19T06:57:57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microsoft.com/office/2016/11/relationships/changesInfo" Target="changesInfos/changesInfo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ni Parthasarathy" userId="5d29810c-4c73-4c1d-8201-9b93549c6ca1" providerId="ADAL" clId="{75AAFFD4-7111-4948-AEA9-56E87B7D8E5F}"/>
    <pc:docChg chg="modSld">
      <pc:chgData name="Rohini Parthasarathy" userId="5d29810c-4c73-4c1d-8201-9b93549c6ca1" providerId="ADAL" clId="{75AAFFD4-7111-4948-AEA9-56E87B7D8E5F}" dt="2026-06-19T06:57:57.073" v="10" actId="20577"/>
      <pc:docMkLst>
        <pc:docMk/>
      </pc:docMkLst>
      <pc:sldChg chg="modSp mod">
        <pc:chgData name="Rohini Parthasarathy" userId="5d29810c-4c73-4c1d-8201-9b93549c6ca1" providerId="ADAL" clId="{75AAFFD4-7111-4948-AEA9-56E87B7D8E5F}" dt="2026-06-19T06:57:57.073" v="10" actId="20577"/>
        <pc:sldMkLst>
          <pc:docMk/>
          <pc:sldMk cId="4127482650" sldId="364"/>
        </pc:sldMkLst>
        <pc:spChg chg="mod">
          <ac:chgData name="Rohini Parthasarathy" userId="5d29810c-4c73-4c1d-8201-9b93549c6ca1" providerId="ADAL" clId="{75AAFFD4-7111-4948-AEA9-56E87B7D8E5F}" dt="2026-06-19T06:57:57.073" v="10" actId="20577"/>
          <ac:spMkLst>
            <pc:docMk/>
            <pc:sldMk cId="4127482650" sldId="364"/>
            <ac:spMk id="3" creationId="{BAB37C04-319E-B7F0-8E22-8DFE4067348E}"/>
          </ac:spMkLst>
        </pc:spChg>
      </pc:sldChg>
    </pc:docChg>
  </pc:docChgLst>
  <pc:docChgLst>
    <pc:chgData name="Nelson Tan" userId="S::nelson.tan@spacefaculty.asia::c28549c1-5af8-4bf7-8395-75b8fa1699d4" providerId="AD" clId="Web-{968B74F4-0E55-63DB-A94A-B04CBC06755F}"/>
    <pc:docChg chg="modSld">
      <pc:chgData name="Nelson Tan" userId="S::nelson.tan@spacefaculty.asia::c28549c1-5af8-4bf7-8395-75b8fa1699d4" providerId="AD" clId="Web-{968B74F4-0E55-63DB-A94A-B04CBC06755F}" dt="2026-04-27T06:33:59.569" v="0" actId="20577"/>
      <pc:docMkLst>
        <pc:docMk/>
      </pc:docMkLst>
      <pc:sldChg chg="modSp">
        <pc:chgData name="Nelson Tan" userId="S::nelson.tan@spacefaculty.asia::c28549c1-5af8-4bf7-8395-75b8fa1699d4" providerId="AD" clId="Web-{968B74F4-0E55-63DB-A94A-B04CBC06755F}" dt="2026-04-27T06:33:59.569" v="0" actId="20577"/>
        <pc:sldMkLst>
          <pc:docMk/>
          <pc:sldMk cId="3620037817" sldId="365"/>
        </pc:sldMkLst>
        <pc:spChg chg="mod">
          <ac:chgData name="Nelson Tan" userId="S::nelson.tan@spacefaculty.asia::c28549c1-5af8-4bf7-8395-75b8fa1699d4" providerId="AD" clId="Web-{968B74F4-0E55-63DB-A94A-B04CBC06755F}" dt="2026-04-27T06:33:59.569" v="0" actId="20577"/>
          <ac:spMkLst>
            <pc:docMk/>
            <pc:sldMk cId="3620037817" sldId="365"/>
            <ac:spMk id="5" creationId="{62E25E31-B145-DCBC-092F-C2EB989E53C9}"/>
          </ac:spMkLst>
        </pc:spChg>
      </pc:sldChg>
    </pc:docChg>
  </pc:docChgLst>
  <pc:docChgLst>
    <pc:chgData name="Nelson Tan" userId="S::nelson.tan@spacefaculty.asia::c28549c1-5af8-4bf7-8395-75b8fa1699d4" providerId="AD" clId="Web-{DEB22270-C797-98F5-046D-414D0FD74C29}"/>
    <pc:docChg chg="modSld">
      <pc:chgData name="Nelson Tan" userId="S::nelson.tan@spacefaculty.asia::c28549c1-5af8-4bf7-8395-75b8fa1699d4" providerId="AD" clId="Web-{DEB22270-C797-98F5-046D-414D0FD74C29}" dt="2026-04-20T05:42:36.234" v="6" actId="20577"/>
      <pc:docMkLst>
        <pc:docMk/>
      </pc:docMkLst>
      <pc:sldChg chg="modSp">
        <pc:chgData name="Nelson Tan" userId="S::nelson.tan@spacefaculty.asia::c28549c1-5af8-4bf7-8395-75b8fa1699d4" providerId="AD" clId="Web-{DEB22270-C797-98F5-046D-414D0FD74C29}" dt="2026-04-20T05:42:36.234" v="6" actId="20577"/>
        <pc:sldMkLst>
          <pc:docMk/>
          <pc:sldMk cId="4127482650" sldId="364"/>
        </pc:sldMkLst>
        <pc:spChg chg="mod">
          <ac:chgData name="Nelson Tan" userId="S::nelson.tan@spacefaculty.asia::c28549c1-5af8-4bf7-8395-75b8fa1699d4" providerId="AD" clId="Web-{DEB22270-C797-98F5-046D-414D0FD74C29}" dt="2026-04-20T05:42:36.234" v="6" actId="20577"/>
          <ac:spMkLst>
            <pc:docMk/>
            <pc:sldMk cId="4127482650" sldId="364"/>
            <ac:spMk id="3" creationId="{BAB37C04-319E-B7F0-8E22-8DFE4067348E}"/>
          </ac:spMkLst>
        </pc:spChg>
      </pc:sldChg>
    </pc:docChg>
  </pc:docChgLst>
  <pc:docChgLst>
    <pc:chgData name="Nelson Tan" userId="S::nelson.tan@spacefaculty.asia::c28549c1-5af8-4bf7-8395-75b8fa1699d4" providerId="AD" clId="Web-{BD678C8A-F19D-F9A6-07D0-D987F3BD7334}"/>
    <pc:docChg chg="modSld">
      <pc:chgData name="Nelson Tan" userId="S::nelson.tan@spacefaculty.asia::c28549c1-5af8-4bf7-8395-75b8fa1699d4" providerId="AD" clId="Web-{BD678C8A-F19D-F9A6-07D0-D987F3BD7334}" dt="2026-04-24T08:31:31.192" v="0" actId="20577"/>
      <pc:docMkLst>
        <pc:docMk/>
      </pc:docMkLst>
      <pc:sldChg chg="modSp">
        <pc:chgData name="Nelson Tan" userId="S::nelson.tan@spacefaculty.asia::c28549c1-5af8-4bf7-8395-75b8fa1699d4" providerId="AD" clId="Web-{BD678C8A-F19D-F9A6-07D0-D987F3BD7334}" dt="2026-04-24T08:31:31.192" v="0" actId="20577"/>
        <pc:sldMkLst>
          <pc:docMk/>
          <pc:sldMk cId="3620037817" sldId="365"/>
        </pc:sldMkLst>
        <pc:spChg chg="mod">
          <ac:chgData name="Nelson Tan" userId="S::nelson.tan@spacefaculty.asia::c28549c1-5af8-4bf7-8395-75b8fa1699d4" providerId="AD" clId="Web-{BD678C8A-F19D-F9A6-07D0-D987F3BD7334}" dt="2026-04-24T08:31:31.192" v="0" actId="20577"/>
          <ac:spMkLst>
            <pc:docMk/>
            <pc:sldMk cId="3620037817" sldId="365"/>
            <ac:spMk id="5" creationId="{62E25E31-B145-DCBC-092F-C2EB989E53C9}"/>
          </ac:spMkLst>
        </pc:spChg>
      </pc:sldChg>
    </pc:docChg>
  </pc:docChgLst>
  <pc:docChgLst>
    <pc:chgData name="Nelson Tan" userId="S::nelson.tan@spacefaculty.asia::c28549c1-5af8-4bf7-8395-75b8fa1699d4" providerId="AD" clId="Web-{D61983F1-7F4B-3180-F19C-098608ECC0F0}"/>
    <pc:docChg chg="modSld">
      <pc:chgData name="Nelson Tan" userId="S::nelson.tan@spacefaculty.asia::c28549c1-5af8-4bf7-8395-75b8fa1699d4" providerId="AD" clId="Web-{D61983F1-7F4B-3180-F19C-098608ECC0F0}" dt="2026-04-20T05:43:43.811" v="5" actId="20577"/>
      <pc:docMkLst>
        <pc:docMk/>
      </pc:docMkLst>
      <pc:sldChg chg="modSp">
        <pc:chgData name="Nelson Tan" userId="S::nelson.tan@spacefaculty.asia::c28549c1-5af8-4bf7-8395-75b8fa1699d4" providerId="AD" clId="Web-{D61983F1-7F4B-3180-F19C-098608ECC0F0}" dt="2026-04-20T05:43:43.811" v="5" actId="20577"/>
        <pc:sldMkLst>
          <pc:docMk/>
          <pc:sldMk cId="4127482650" sldId="364"/>
        </pc:sldMkLst>
        <pc:spChg chg="mod">
          <ac:chgData name="Nelson Tan" userId="S::nelson.tan@spacefaculty.asia::c28549c1-5af8-4bf7-8395-75b8fa1699d4" providerId="AD" clId="Web-{D61983F1-7F4B-3180-F19C-098608ECC0F0}" dt="2026-04-20T05:43:43.811" v="5" actId="20577"/>
          <ac:spMkLst>
            <pc:docMk/>
            <pc:sldMk cId="4127482650" sldId="364"/>
            <ac:spMk id="3" creationId="{BAB37C04-319E-B7F0-8E22-8DFE4067348E}"/>
          </ac:spMkLst>
        </pc:spChg>
      </pc:sldChg>
    </pc:docChg>
  </pc:docChgLst>
  <pc:docChgLst>
    <pc:chgData name="Lap Lam" userId="cd12b76e-ec99-4339-b30b-202cf0ade5f0" providerId="ADAL" clId="{11BEC39B-9189-4BE7-80E3-D930C78DE2F2}"/>
    <pc:docChg chg="modSld">
      <pc:chgData name="Lap Lam" userId="cd12b76e-ec99-4339-b30b-202cf0ade5f0" providerId="ADAL" clId="{11BEC39B-9189-4BE7-80E3-D930C78DE2F2}" dt="2026-04-21T08:50:32.781" v="2" actId="20577"/>
      <pc:docMkLst>
        <pc:docMk/>
      </pc:docMkLst>
      <pc:sldChg chg="modSp mod">
        <pc:chgData name="Lap Lam" userId="cd12b76e-ec99-4339-b30b-202cf0ade5f0" providerId="ADAL" clId="{11BEC39B-9189-4BE7-80E3-D930C78DE2F2}" dt="2026-04-21T08:50:32.781" v="2" actId="20577"/>
        <pc:sldMkLst>
          <pc:docMk/>
          <pc:sldMk cId="3620037817" sldId="365"/>
        </pc:sldMkLst>
        <pc:spChg chg="mod">
          <ac:chgData name="Lap Lam" userId="cd12b76e-ec99-4339-b30b-202cf0ade5f0" providerId="ADAL" clId="{11BEC39B-9189-4BE7-80E3-D930C78DE2F2}" dt="2026-04-21T08:50:32.781" v="2" actId="20577"/>
          <ac:spMkLst>
            <pc:docMk/>
            <pc:sldMk cId="3620037817" sldId="365"/>
            <ac:spMk id="5" creationId="{62E25E31-B145-DCBC-092F-C2EB989E53C9}"/>
          </ac:spMkLst>
        </pc:spChg>
      </pc:sldChg>
      <pc:sldChg chg="modSp mod">
        <pc:chgData name="Lap Lam" userId="cd12b76e-ec99-4339-b30b-202cf0ade5f0" providerId="ADAL" clId="{11BEC39B-9189-4BE7-80E3-D930C78DE2F2}" dt="2026-04-21T08:50:18.598" v="1" actId="5793"/>
        <pc:sldMkLst>
          <pc:docMk/>
          <pc:sldMk cId="3231172029" sldId="366"/>
        </pc:sldMkLst>
        <pc:spChg chg="mod">
          <ac:chgData name="Lap Lam" userId="cd12b76e-ec99-4339-b30b-202cf0ade5f0" providerId="ADAL" clId="{11BEC39B-9189-4BE7-80E3-D930C78DE2F2}" dt="2026-04-21T08:50:18.598" v="1" actId="5793"/>
          <ac:spMkLst>
            <pc:docMk/>
            <pc:sldMk cId="3231172029" sldId="366"/>
            <ac:spMk id="3" creationId="{EAEAF589-25A1-B24A-8536-433A4C9B054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929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6197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80985" algn="l" defTabSz="76197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61970" algn="l" defTabSz="76197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142954" algn="l" defTabSz="76197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523939" algn="l" defTabSz="76197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904924" algn="l" defTabSz="76197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285909" algn="l" defTabSz="76197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666893" algn="l" defTabSz="76197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047878" algn="l" defTabSz="76197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F60AB-D0C1-4DAD-A16C-E6F7749926D0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377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9B062-7574-8C10-41E1-0D6893264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39723-4E8A-7406-FBB9-7812985B4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7FA8D-85E7-1903-8035-D99B2F479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93508-45C1-7706-F3B8-3B8CD5D2B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F60AB-D0C1-4DAD-A16C-E6F7749926D0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65173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859B91-C5AF-A16E-8DDA-38AB5EF4EB1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134" y="2887135"/>
            <a:ext cx="5418666" cy="1384827"/>
          </a:xfrm>
        </p:spPr>
        <p:txBody>
          <a:bodyPr anchor="ctr">
            <a:normAutofit/>
          </a:bodyPr>
          <a:lstStyle>
            <a:lvl1pPr algn="l">
              <a:defRPr sz="4400" b="1">
                <a:solidFill>
                  <a:srgbClr val="435F7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135" y="4389440"/>
            <a:ext cx="5418666" cy="1384828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00274D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5A589FBF-1620-7814-E91B-F4DEB55E49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34667" y="1"/>
            <a:ext cx="5757332" cy="6854060"/>
          </a:xfrm>
          <a:prstGeom prst="rect">
            <a:avLst/>
          </a:prstGeom>
        </p:spPr>
      </p:pic>
      <p:pic>
        <p:nvPicPr>
          <p:cNvPr id="11" name="Picture 10" descr="A logo with a triangle and a yellow triangle&#10;&#10;AI-generated content may be incorrect.">
            <a:extLst>
              <a:ext uri="{FF2B5EF4-FFF2-40B4-BE49-F238E27FC236}">
                <a16:creationId xmlns:a16="http://schemas.microsoft.com/office/drawing/2014/main" id="{90A8EC71-AE57-FBCA-3161-16899DEED0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3685" y="6056914"/>
            <a:ext cx="1820332" cy="60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5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4A433E-0447-472E-B36A-9EDF8610B5E7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052043-7109-4658-838B-B3BF197D87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706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4A433E-0447-472E-B36A-9EDF8610B5E7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052043-7109-4658-838B-B3BF197D87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0774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4A433E-0447-472E-B36A-9EDF8610B5E7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052043-7109-4658-838B-B3BF197D87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938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4A433E-0447-472E-B36A-9EDF8610B5E7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052043-7109-4658-838B-B3BF197D87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60828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4A433E-0447-472E-B36A-9EDF8610B5E7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052043-7109-4658-838B-B3BF197D87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3863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4A433E-0447-472E-B36A-9EDF8610B5E7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052043-7109-4658-838B-B3BF197D87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634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4A433E-0447-472E-B36A-9EDF8610B5E7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052043-7109-4658-838B-B3BF197D87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670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4A433E-0447-472E-B36A-9EDF8610B5E7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052043-7109-4658-838B-B3BF197D87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354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4A433E-0447-472E-B36A-9EDF8610B5E7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052043-7109-4658-838B-B3BF197D87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85395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4A433E-0447-472E-B36A-9EDF8610B5E7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052043-7109-4658-838B-B3BF197D87E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879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Google Shape;16;p78">
            <a:extLst>
              <a:ext uri="{FF2B5EF4-FFF2-40B4-BE49-F238E27FC236}">
                <a16:creationId xmlns:a16="http://schemas.microsoft.com/office/drawing/2014/main" id="{9B55EBE4-0DF4-8BF2-EC22-B2A206344A32}"/>
              </a:ext>
            </a:extLst>
          </p:cNvPr>
          <p:cNvSpPr/>
          <p:nvPr userDrawn="1"/>
        </p:nvSpPr>
        <p:spPr>
          <a:xfrm>
            <a:off x="0" y="6410547"/>
            <a:ext cx="12192000" cy="44745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</a:pPr>
            <a:endParaRPr sz="1800" b="0" i="0" u="none" strike="noStrike" cap="non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" name="Google Shape;18;p78">
            <a:extLst>
              <a:ext uri="{FF2B5EF4-FFF2-40B4-BE49-F238E27FC236}">
                <a16:creationId xmlns:a16="http://schemas.microsoft.com/office/drawing/2014/main" id="{B2CFD044-F2C2-7540-E9B1-6E9E61EA9FCC}"/>
              </a:ext>
            </a:extLst>
          </p:cNvPr>
          <p:cNvSpPr/>
          <p:nvPr userDrawn="1"/>
        </p:nvSpPr>
        <p:spPr>
          <a:xfrm rot="10800000">
            <a:off x="0" y="6408643"/>
            <a:ext cx="721162" cy="451259"/>
          </a:xfrm>
          <a:custGeom>
            <a:avLst/>
            <a:gdLst/>
            <a:ahLst/>
            <a:cxnLst/>
            <a:rect l="l" t="t" r="r" b="b"/>
            <a:pathLst>
              <a:path w="10025" h="10085" extrusionOk="0">
                <a:moveTo>
                  <a:pt x="0" y="10085"/>
                </a:moveTo>
                <a:lnTo>
                  <a:pt x="2562" y="0"/>
                </a:lnTo>
                <a:lnTo>
                  <a:pt x="10025" y="0"/>
                </a:lnTo>
                <a:cubicBezTo>
                  <a:pt x="10024" y="3333"/>
                  <a:pt x="10002" y="6752"/>
                  <a:pt x="10000" y="10085"/>
                </a:cubicBezTo>
                <a:lnTo>
                  <a:pt x="0" y="10085"/>
                </a:lnTo>
                <a:close/>
              </a:path>
            </a:pathLst>
          </a:custGeom>
          <a:solidFill>
            <a:srgbClr val="FFC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</a:pPr>
            <a:endParaRPr sz="1800" b="0" i="0" u="none" strike="noStrike" cap="none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9;p78">
            <a:extLst>
              <a:ext uri="{FF2B5EF4-FFF2-40B4-BE49-F238E27FC236}">
                <a16:creationId xmlns:a16="http://schemas.microsoft.com/office/drawing/2014/main" id="{A08FC0AA-39A1-685C-4FB8-3EB03697951C}"/>
              </a:ext>
            </a:extLst>
          </p:cNvPr>
          <p:cNvSpPr txBox="1"/>
          <p:nvPr userDrawn="1"/>
        </p:nvSpPr>
        <p:spPr>
          <a:xfrm>
            <a:off x="798060" y="64404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Property of Space Faculty Pte Ltd, not to be used without written permission</a:t>
            </a:r>
            <a:endParaRPr sz="1200" b="0" i="0" u="none" strike="noStrike" cap="none">
              <a:solidFill>
                <a:srgbClr val="757575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" name="Google Shape;20;p78">
            <a:extLst>
              <a:ext uri="{FF2B5EF4-FFF2-40B4-BE49-F238E27FC236}">
                <a16:creationId xmlns:a16="http://schemas.microsoft.com/office/drawing/2014/main" id="{C8EA82A1-719E-C24D-8195-FF11698A1DAE}"/>
              </a:ext>
            </a:extLst>
          </p:cNvPr>
          <p:cNvSpPr txBox="1"/>
          <p:nvPr userDrawn="1"/>
        </p:nvSpPr>
        <p:spPr>
          <a:xfrm>
            <a:off x="12218" y="6455437"/>
            <a:ext cx="619794" cy="335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‹#›</a:t>
            </a:fld>
            <a:endParaRPr sz="1100" b="0" i="0" u="none" strike="noStrike" cap="non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" name="Picture 15" descr="A white and yellow logo&#10;&#10;AI-generated content may be incorrect.">
            <a:extLst>
              <a:ext uri="{FF2B5EF4-FFF2-40B4-BE49-F238E27FC236}">
                <a16:creationId xmlns:a16="http://schemas.microsoft.com/office/drawing/2014/main" id="{A7540A5A-B009-6E18-1097-4BC7D29DF6A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994387" y="6448275"/>
            <a:ext cx="1115542" cy="37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86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274D"/>
          </a:solidFill>
          <a:latin typeface="Barlow Bold" panose="020B060402020202020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274D"/>
          </a:solidFill>
          <a:latin typeface="Nunito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274D"/>
          </a:solidFill>
          <a:latin typeface="Nunito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274D"/>
          </a:solidFill>
          <a:latin typeface="Nunito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74D"/>
          </a:solidFill>
          <a:latin typeface="Nunito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74D"/>
          </a:solidFill>
          <a:latin typeface="Nunito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689557"/>
            <a:ext cx="12192000" cy="14855653"/>
          </a:xfrm>
          <a:custGeom>
            <a:avLst/>
            <a:gdLst/>
            <a:ahLst/>
            <a:cxnLst/>
            <a:rect l="l" t="t" r="r" b="b"/>
            <a:pathLst>
              <a:path w="18288000" h="22283480">
                <a:moveTo>
                  <a:pt x="0" y="0"/>
                </a:moveTo>
                <a:lnTo>
                  <a:pt x="18288000" y="0"/>
                </a:lnTo>
                <a:lnTo>
                  <a:pt x="18288000" y="22283481"/>
                </a:lnTo>
                <a:lnTo>
                  <a:pt x="0" y="22283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10" r="-11637"/>
            </a:stretch>
          </a:blipFill>
        </p:spPr>
        <p:txBody>
          <a:bodyPr/>
          <a:lstStyle/>
          <a:p>
            <a:endParaRPr lang="en-SG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2192000" cy="6858000"/>
            <a:chOff x="0" y="0"/>
            <a:chExt cx="9307740" cy="52356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307740" cy="5235604"/>
            </a:xfrm>
            <a:custGeom>
              <a:avLst/>
              <a:gdLst/>
              <a:ahLst/>
              <a:cxnLst/>
              <a:rect l="l" t="t" r="r" b="b"/>
              <a:pathLst>
                <a:path w="9307740" h="5235604">
                  <a:moveTo>
                    <a:pt x="0" y="0"/>
                  </a:moveTo>
                  <a:lnTo>
                    <a:pt x="9307740" y="0"/>
                  </a:lnTo>
                  <a:lnTo>
                    <a:pt x="9307740" y="5235604"/>
                  </a:lnTo>
                  <a:lnTo>
                    <a:pt x="0" y="5235604"/>
                  </a:lnTo>
                  <a:close/>
                </a:path>
              </a:pathLst>
            </a:custGeom>
            <a:solidFill>
              <a:srgbClr val="000000">
                <a:alpha val="65882"/>
              </a:srgbClr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9307740" cy="5254654"/>
            </a:xfrm>
            <a:prstGeom prst="rect">
              <a:avLst/>
            </a:prstGeom>
          </p:spPr>
          <p:txBody>
            <a:bodyPr lIns="17525" tIns="17525" rIns="17525" bIns="17525" rtlCol="0" anchor="ctr"/>
            <a:lstStyle/>
            <a:p>
              <a:pPr algn="ctr">
                <a:lnSpc>
                  <a:spcPts val="917"/>
                </a:lnSpc>
              </a:pPr>
              <a:endParaRPr sz="1000"/>
            </a:p>
          </p:txBody>
        </p:sp>
      </p:grpSp>
      <p:sp>
        <p:nvSpPr>
          <p:cNvPr id="6" name="Freeform 6"/>
          <p:cNvSpPr/>
          <p:nvPr/>
        </p:nvSpPr>
        <p:spPr>
          <a:xfrm>
            <a:off x="9542061" y="300836"/>
            <a:ext cx="1964139" cy="1302879"/>
          </a:xfrm>
          <a:custGeom>
            <a:avLst/>
            <a:gdLst/>
            <a:ahLst/>
            <a:cxnLst/>
            <a:rect l="l" t="t" r="r" b="b"/>
            <a:pathLst>
              <a:path w="2946209" h="1954318">
                <a:moveTo>
                  <a:pt x="0" y="0"/>
                </a:moveTo>
                <a:lnTo>
                  <a:pt x="2946209" y="0"/>
                </a:lnTo>
                <a:lnTo>
                  <a:pt x="2946209" y="1954318"/>
                </a:lnTo>
                <a:lnTo>
                  <a:pt x="0" y="1954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7" name="Freeform 7"/>
          <p:cNvSpPr/>
          <p:nvPr/>
        </p:nvSpPr>
        <p:spPr>
          <a:xfrm>
            <a:off x="530340" y="558312"/>
            <a:ext cx="2363781" cy="787927"/>
          </a:xfrm>
          <a:custGeom>
            <a:avLst/>
            <a:gdLst/>
            <a:ahLst/>
            <a:cxnLst/>
            <a:rect l="l" t="t" r="r" b="b"/>
            <a:pathLst>
              <a:path w="3545672" h="1181891">
                <a:moveTo>
                  <a:pt x="0" y="0"/>
                </a:moveTo>
                <a:lnTo>
                  <a:pt x="3545672" y="0"/>
                </a:lnTo>
                <a:lnTo>
                  <a:pt x="3545672" y="1181891"/>
                </a:lnTo>
                <a:lnTo>
                  <a:pt x="0" y="11818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" r="-91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8" name="TextBox 8"/>
          <p:cNvSpPr txBox="1"/>
          <p:nvPr/>
        </p:nvSpPr>
        <p:spPr>
          <a:xfrm>
            <a:off x="4476514" y="1329376"/>
            <a:ext cx="3238973" cy="468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sz="2666" b="1" spc="213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19TH ISC THEME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169" y="1854465"/>
            <a:ext cx="10679663" cy="1141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sz="4000" b="1" spc="320">
                <a:solidFill>
                  <a:srgbClr val="FFD900"/>
                </a:solidFill>
                <a:latin typeface="Nunito Bold"/>
                <a:ea typeface="Nunito Bold"/>
                <a:cs typeface="Nunito Bold"/>
                <a:sym typeface="Nunito Bold"/>
              </a:rPr>
              <a:t>In-Space Servicing, Assembly and Manufacturing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8170" y="3169535"/>
            <a:ext cx="11415660" cy="455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7"/>
              </a:lnSpc>
            </a:pPr>
            <a:r>
              <a:rPr lang="en-US" sz="2669" b="1" spc="213">
                <a:solidFill>
                  <a:srgbClr val="FFFFFF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EARLY BIRD PROMO: $99 PER TEAM (EXCLUDE GST)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751129" y="3964797"/>
            <a:ext cx="6689743" cy="2578355"/>
            <a:chOff x="0" y="-76200"/>
            <a:chExt cx="13379485" cy="5156710"/>
          </a:xfrm>
        </p:grpSpPr>
        <p:sp>
          <p:nvSpPr>
            <p:cNvPr id="12" name="Freeform 12"/>
            <p:cNvSpPr/>
            <p:nvPr/>
          </p:nvSpPr>
          <p:spPr>
            <a:xfrm>
              <a:off x="9350561" y="1023801"/>
              <a:ext cx="4028924" cy="4056709"/>
            </a:xfrm>
            <a:custGeom>
              <a:avLst/>
              <a:gdLst/>
              <a:ahLst/>
              <a:cxnLst/>
              <a:rect l="l" t="t" r="r" b="b"/>
              <a:pathLst>
                <a:path w="4028924" h="4056709">
                  <a:moveTo>
                    <a:pt x="0" y="0"/>
                  </a:moveTo>
                  <a:lnTo>
                    <a:pt x="4028924" y="0"/>
                  </a:lnTo>
                  <a:lnTo>
                    <a:pt x="4028924" y="4056709"/>
                  </a:lnTo>
                  <a:lnTo>
                    <a:pt x="0" y="4056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96429" y="-76200"/>
              <a:ext cx="3737186" cy="8147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42"/>
                </a:lnSpc>
              </a:pPr>
              <a:r>
                <a:rPr lang="en-US" sz="2337" b="1" spc="187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More Info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99982" y="1023801"/>
              <a:ext cx="4008579" cy="4056709"/>
            </a:xfrm>
            <a:custGeom>
              <a:avLst/>
              <a:gdLst/>
              <a:ahLst/>
              <a:cxnLst/>
              <a:rect l="l" t="t" r="r" b="b"/>
              <a:pathLst>
                <a:path w="4008579" h="4056709">
                  <a:moveTo>
                    <a:pt x="0" y="0"/>
                  </a:moveTo>
                  <a:lnTo>
                    <a:pt x="4008579" y="0"/>
                  </a:lnTo>
                  <a:lnTo>
                    <a:pt x="4008579" y="4056709"/>
                  </a:lnTo>
                  <a:lnTo>
                    <a:pt x="0" y="4056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5008544" cy="8147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42"/>
                </a:lnSpc>
              </a:pPr>
              <a:r>
                <a:rPr lang="en-US" sz="2337" b="1" spc="187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Register Now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24E7F9-9D45-5108-7D3D-757EAC5D3359}"/>
              </a:ext>
            </a:extLst>
          </p:cNvPr>
          <p:cNvSpPr/>
          <p:nvPr/>
        </p:nvSpPr>
        <p:spPr>
          <a:xfrm>
            <a:off x="0" y="-3689557"/>
            <a:ext cx="12192000" cy="14855653"/>
          </a:xfrm>
          <a:custGeom>
            <a:avLst/>
            <a:gdLst/>
            <a:ahLst/>
            <a:cxnLst/>
            <a:rect l="l" t="t" r="r" b="b"/>
            <a:pathLst>
              <a:path w="18288000" h="22283480">
                <a:moveTo>
                  <a:pt x="0" y="0"/>
                </a:moveTo>
                <a:lnTo>
                  <a:pt x="18288000" y="0"/>
                </a:lnTo>
                <a:lnTo>
                  <a:pt x="18288000" y="22283481"/>
                </a:lnTo>
                <a:lnTo>
                  <a:pt x="0" y="22283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10" r="-11637"/>
            </a:stretch>
          </a:blipFill>
        </p:spPr>
        <p:txBody>
          <a:bodyPr/>
          <a:lstStyle/>
          <a:p>
            <a:endParaRPr lang="en-SG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3DC7458-21D9-7807-88A8-40F300AE6A1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9307740" cy="523560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301ADF1-8DEB-F396-1DFF-21F9FE5B943D}"/>
                </a:ext>
              </a:extLst>
            </p:cNvPr>
            <p:cNvSpPr/>
            <p:nvPr/>
          </p:nvSpPr>
          <p:spPr>
            <a:xfrm>
              <a:off x="0" y="0"/>
              <a:ext cx="9307740" cy="5235604"/>
            </a:xfrm>
            <a:custGeom>
              <a:avLst/>
              <a:gdLst/>
              <a:ahLst/>
              <a:cxnLst/>
              <a:rect l="l" t="t" r="r" b="b"/>
              <a:pathLst>
                <a:path w="9307740" h="5235604">
                  <a:moveTo>
                    <a:pt x="0" y="0"/>
                  </a:moveTo>
                  <a:lnTo>
                    <a:pt x="9307740" y="0"/>
                  </a:lnTo>
                  <a:lnTo>
                    <a:pt x="9307740" y="5235604"/>
                  </a:lnTo>
                  <a:lnTo>
                    <a:pt x="0" y="5235604"/>
                  </a:lnTo>
                  <a:close/>
                </a:path>
              </a:pathLst>
            </a:custGeom>
            <a:solidFill>
              <a:srgbClr val="000000">
                <a:alpha val="65882"/>
              </a:srgbClr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6357729-00AA-FD00-82DE-DC1F74E2B8C5}"/>
                </a:ext>
              </a:extLst>
            </p:cNvPr>
            <p:cNvSpPr txBox="1"/>
            <p:nvPr/>
          </p:nvSpPr>
          <p:spPr>
            <a:xfrm>
              <a:off x="0" y="-19050"/>
              <a:ext cx="9307740" cy="5254654"/>
            </a:xfrm>
            <a:prstGeom prst="rect">
              <a:avLst/>
            </a:prstGeom>
          </p:spPr>
          <p:txBody>
            <a:bodyPr lIns="17525" tIns="17525" rIns="17525" bIns="17525" rtlCol="0" anchor="ctr"/>
            <a:lstStyle/>
            <a:p>
              <a:pPr algn="ctr">
                <a:lnSpc>
                  <a:spcPts val="917"/>
                </a:lnSpc>
              </a:pPr>
              <a:endParaRPr sz="1000"/>
            </a:p>
          </p:txBody>
        </p:sp>
      </p:grpSp>
      <p:sp>
        <p:nvSpPr>
          <p:cNvPr id="6" name="Freeform 7">
            <a:extLst>
              <a:ext uri="{FF2B5EF4-FFF2-40B4-BE49-F238E27FC236}">
                <a16:creationId xmlns:a16="http://schemas.microsoft.com/office/drawing/2014/main" id="{52346EF1-D958-05B2-8EAE-BE9BE6D038C6}"/>
              </a:ext>
            </a:extLst>
          </p:cNvPr>
          <p:cNvSpPr/>
          <p:nvPr/>
        </p:nvSpPr>
        <p:spPr>
          <a:xfrm>
            <a:off x="530340" y="558312"/>
            <a:ext cx="2363781" cy="787927"/>
          </a:xfrm>
          <a:custGeom>
            <a:avLst/>
            <a:gdLst/>
            <a:ahLst/>
            <a:cxnLst/>
            <a:rect l="l" t="t" r="r" b="b"/>
            <a:pathLst>
              <a:path w="3545672" h="1181891">
                <a:moveTo>
                  <a:pt x="0" y="0"/>
                </a:moveTo>
                <a:lnTo>
                  <a:pt x="3545672" y="0"/>
                </a:lnTo>
                <a:lnTo>
                  <a:pt x="3545672" y="1181891"/>
                </a:lnTo>
                <a:lnTo>
                  <a:pt x="0" y="1181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1" r="-91"/>
            </a:stretch>
          </a:blipFill>
        </p:spPr>
        <p:txBody>
          <a:bodyPr/>
          <a:lstStyle/>
          <a:p>
            <a:endParaRPr lang="en-S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C19913-0366-19AF-ADBC-9BF91AFE94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8831"/>
          <a:stretch>
            <a:fillRect/>
          </a:stretch>
        </p:blipFill>
        <p:spPr>
          <a:xfrm>
            <a:off x="9986739" y="613277"/>
            <a:ext cx="1674921" cy="676750"/>
          </a:xfrm>
          <a:prstGeom prst="rect">
            <a:avLst/>
          </a:prstGeom>
        </p:spPr>
      </p:pic>
      <p:pic>
        <p:nvPicPr>
          <p:cNvPr id="8" name="Picture 7" descr="A logo with a satellite on it&#10;&#10;AI-generated content may be incorrect.">
            <a:extLst>
              <a:ext uri="{FF2B5EF4-FFF2-40B4-BE49-F238E27FC236}">
                <a16:creationId xmlns:a16="http://schemas.microsoft.com/office/drawing/2014/main" id="{8713E282-901C-522C-FAE3-337EDB68E0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1946" y="506282"/>
            <a:ext cx="3088108" cy="3088108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7E9735EA-D3D2-F1E3-7AE6-8E41755C9729}"/>
              </a:ext>
            </a:extLst>
          </p:cNvPr>
          <p:cNvSpPr txBox="1"/>
          <p:nvPr/>
        </p:nvSpPr>
        <p:spPr>
          <a:xfrm>
            <a:off x="756169" y="3465117"/>
            <a:ext cx="10679663" cy="546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sz="3200" b="1" spc="320">
                <a:solidFill>
                  <a:srgbClr val="FFD900"/>
                </a:solidFill>
                <a:latin typeface="Nunito Bold"/>
                <a:ea typeface="Nunito Bold"/>
                <a:cs typeface="Nunito Bold"/>
                <a:sym typeface="Nunito Bold"/>
              </a:rPr>
              <a:t>Precise Positioning for Public Good</a:t>
            </a:r>
          </a:p>
        </p:txBody>
      </p:sp>
      <p:pic>
        <p:nvPicPr>
          <p:cNvPr id="11" name="Picture 10" descr="SPACE FACULTY&#10;&#10;AI-generated content may be incorrect.">
            <a:extLst>
              <a:ext uri="{FF2B5EF4-FFF2-40B4-BE49-F238E27FC236}">
                <a16:creationId xmlns:a16="http://schemas.microsoft.com/office/drawing/2014/main" id="{1C32AAF8-D37B-2FA6-CA8F-0B62B927B2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7924" y="4186634"/>
            <a:ext cx="2496152" cy="2496152"/>
          </a:xfrm>
          <a:prstGeom prst="rect">
            <a:avLst/>
          </a:prstGeom>
        </p:spPr>
      </p:pic>
      <p:sp>
        <p:nvSpPr>
          <p:cNvPr id="12" name="TextBox 13">
            <a:extLst>
              <a:ext uri="{FF2B5EF4-FFF2-40B4-BE49-F238E27FC236}">
                <a16:creationId xmlns:a16="http://schemas.microsoft.com/office/drawing/2014/main" id="{E21EE600-8E4E-8DC9-1B36-D049E18A56F0}"/>
              </a:ext>
            </a:extLst>
          </p:cNvPr>
          <p:cNvSpPr txBox="1"/>
          <p:nvPr/>
        </p:nvSpPr>
        <p:spPr>
          <a:xfrm>
            <a:off x="2979331" y="6289946"/>
            <a:ext cx="1868593" cy="407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2"/>
              </a:lnSpc>
            </a:pPr>
            <a:r>
              <a:rPr lang="en-US" sz="2337" b="1" spc="187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More Info</a:t>
            </a:r>
          </a:p>
        </p:txBody>
      </p:sp>
    </p:spTree>
    <p:extLst>
      <p:ext uri="{BB962C8B-B14F-4D97-AF65-F5344CB8AC3E}">
        <p14:creationId xmlns:p14="http://schemas.microsoft.com/office/powerpoint/2010/main" val="3529597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DBD0-FFB7-D73E-4537-7115DA282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132" y="2380987"/>
            <a:ext cx="6574367" cy="1744132"/>
          </a:xfrm>
        </p:spPr>
        <p:txBody>
          <a:bodyPr>
            <a:normAutofit/>
          </a:bodyPr>
          <a:lstStyle/>
          <a:p>
            <a:r>
              <a:rPr lang="en-SG"/>
              <a:t>Satellite Building </a:t>
            </a:r>
            <a:br>
              <a:rPr lang="en-SG"/>
            </a:br>
            <a:r>
              <a:rPr lang="en-SG"/>
              <a:t>Project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7ECBDB5-3300-9536-B682-5C689C2CD0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9875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90EE6-224E-0E00-A1B0-E4597D0C0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C23C3-D98A-E6CE-426D-170CFE93C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Industry Engagement Sessions</a:t>
            </a:r>
            <a:endParaRPr lang="en-SG">
              <a:solidFill>
                <a:srgbClr val="00274D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F589-25A1-B24A-8536-433A4C9B0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/>
              <a:t>To better prepare you for a career in the space industry, Space Faculty will arrange engagement sessions with industry experts for workshop participants</a:t>
            </a:r>
          </a:p>
          <a:p>
            <a:pPr lvl="1">
              <a:lnSpc>
                <a:spcPct val="100000"/>
              </a:lnSpc>
            </a:pPr>
            <a:r>
              <a:rPr lang="en-GB" sz="2000"/>
              <a:t>Interact and learn from the experts</a:t>
            </a:r>
          </a:p>
          <a:p>
            <a:pPr lvl="1">
              <a:lnSpc>
                <a:spcPct val="100000"/>
              </a:lnSpc>
            </a:pPr>
            <a:r>
              <a:rPr lang="en-GB" sz="2000"/>
              <a:t>Understand more about the space industry</a:t>
            </a:r>
          </a:p>
          <a:p>
            <a:pPr>
              <a:lnSpc>
                <a:spcPct val="100000"/>
              </a:lnSpc>
            </a:pPr>
            <a:r>
              <a:rPr lang="en-GB" sz="2400"/>
              <a:t>Look out for your emails!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231172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D4E39-ACFA-A8FA-BF54-DCA13F2D8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F74E-DA8A-0BE8-317D-4CB8F053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Satellite Building Project</a:t>
            </a:r>
            <a:endParaRPr lang="en-SG">
              <a:solidFill>
                <a:srgbClr val="00274D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7182B-0A2A-7714-D015-0C9C7D5A0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sz="2000"/>
              <a:t>Mission:  </a:t>
            </a:r>
            <a:r>
              <a:rPr lang="en-GB" sz="2000"/>
              <a:t>In-Orbit sensing for in-space situation awareness (SSA)</a:t>
            </a:r>
          </a:p>
          <a:p>
            <a:pPr>
              <a:lnSpc>
                <a:spcPct val="100000"/>
              </a:lnSpc>
            </a:pPr>
            <a:r>
              <a:rPr lang="en-GB" sz="2000"/>
              <a:t>Platform: 3U CubeSat</a:t>
            </a:r>
          </a:p>
          <a:p>
            <a:pPr>
              <a:lnSpc>
                <a:spcPct val="100000"/>
              </a:lnSpc>
            </a:pPr>
            <a:r>
              <a:rPr lang="en-GB" sz="2000"/>
              <a:t>Schedule: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800">
              <a:solidFill>
                <a:srgbClr val="00274D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388E2E-FECC-FC83-73AA-3E37E0039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553473"/>
              </p:ext>
            </p:extLst>
          </p:nvPr>
        </p:nvGraphicFramePr>
        <p:xfrm>
          <a:off x="2406649" y="2689213"/>
          <a:ext cx="8947151" cy="2866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584">
                  <a:extLst>
                    <a:ext uri="{9D8B030D-6E8A-4147-A177-3AD203B41FA5}">
                      <a16:colId xmlns:a16="http://schemas.microsoft.com/office/drawing/2014/main" val="2055936999"/>
                    </a:ext>
                  </a:extLst>
                </a:gridCol>
                <a:gridCol w="6034567">
                  <a:extLst>
                    <a:ext uri="{9D8B030D-6E8A-4147-A177-3AD203B41FA5}">
                      <a16:colId xmlns:a16="http://schemas.microsoft.com/office/drawing/2014/main" val="1512352411"/>
                    </a:ext>
                  </a:extLst>
                </a:gridCol>
              </a:tblGrid>
              <a:tr h="51821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1" u="none" strike="noStrike">
                          <a:solidFill>
                            <a:srgbClr val="FFCE00"/>
                          </a:solidFill>
                          <a:effectLst/>
                          <a:latin typeface="Nunito" pitchFamily="2" charset="0"/>
                        </a:rPr>
                        <a:t>Date</a:t>
                      </a:r>
                      <a:endParaRPr lang="en-SG" sz="2000" b="1">
                        <a:solidFill>
                          <a:srgbClr val="FFCE00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>
                    <a:solidFill>
                      <a:srgbClr val="00274D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1" u="none" strike="noStrike">
                          <a:solidFill>
                            <a:srgbClr val="FFCE00"/>
                          </a:solidFill>
                          <a:effectLst/>
                          <a:latin typeface="Nunito" pitchFamily="2" charset="0"/>
                        </a:rPr>
                        <a:t>Event</a:t>
                      </a:r>
                      <a:endParaRPr lang="en-SG" sz="2000" b="1">
                        <a:solidFill>
                          <a:srgbClr val="FFCE00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>
                    <a:solidFill>
                      <a:srgbClr val="0027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528293"/>
                  </a:ext>
                </a:extLst>
              </a:tr>
              <a:tr h="79388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Aug 2026 to Jul 2027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Design and development of CubeSat, including various technical review meetings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3755543"/>
                  </a:ext>
                </a:extLst>
              </a:tr>
              <a:tr h="51821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Aug 2027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Shipping of CubeSat for integration with deployer 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8490180"/>
                  </a:ext>
                </a:extLst>
              </a:tr>
              <a:tr h="51821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Oct 2027 to Nov 2027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Launch and Early Orbit Phase (LEOP)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000446"/>
                  </a:ext>
                </a:extLst>
              </a:tr>
              <a:tr h="51821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Nov 2027 to May 2028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Operation Phase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125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268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65518A-5681-85C2-2C91-8B60E659F79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74D"/>
                </a:solidFill>
                <a:latin typeface="Barlow Bold" panose="020B0604020202020204" charset="0"/>
                <a:ea typeface="+mj-ea"/>
                <a:cs typeface="+mj-cs"/>
              </a:defRPr>
            </a:lvl1pPr>
          </a:lstStyle>
          <a:p>
            <a:r>
              <a:rPr lang="en-GB"/>
              <a:t>Methods to Join the Project</a:t>
            </a:r>
            <a:endParaRPr lang="en-SG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A47DB2-DD28-A1FB-F8CF-43F712243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949722"/>
              </p:ext>
            </p:extLst>
          </p:nvPr>
        </p:nvGraphicFramePr>
        <p:xfrm>
          <a:off x="1024798" y="1690688"/>
          <a:ext cx="10142403" cy="4101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4044">
                  <a:extLst>
                    <a:ext uri="{9D8B030D-6E8A-4147-A177-3AD203B41FA5}">
                      <a16:colId xmlns:a16="http://schemas.microsoft.com/office/drawing/2014/main" val="2055936999"/>
                    </a:ext>
                  </a:extLst>
                </a:gridCol>
                <a:gridCol w="3686476">
                  <a:extLst>
                    <a:ext uri="{9D8B030D-6E8A-4147-A177-3AD203B41FA5}">
                      <a16:colId xmlns:a16="http://schemas.microsoft.com/office/drawing/2014/main" val="1512352411"/>
                    </a:ext>
                  </a:extLst>
                </a:gridCol>
                <a:gridCol w="4111883">
                  <a:extLst>
                    <a:ext uri="{9D8B030D-6E8A-4147-A177-3AD203B41FA5}">
                      <a16:colId xmlns:a16="http://schemas.microsoft.com/office/drawing/2014/main" val="719471964"/>
                    </a:ext>
                  </a:extLst>
                </a:gridCol>
              </a:tblGrid>
              <a:tr h="55177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1" u="none" strike="noStrike">
                          <a:solidFill>
                            <a:srgbClr val="FFCE00"/>
                          </a:solidFill>
                          <a:effectLst/>
                          <a:latin typeface="Nunito" pitchFamily="2" charset="0"/>
                        </a:rPr>
                        <a:t>Methods</a:t>
                      </a:r>
                      <a:endParaRPr lang="en-SG" sz="2000" b="1">
                        <a:solidFill>
                          <a:srgbClr val="FFCE00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>
                    <a:solidFill>
                      <a:srgbClr val="00274D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1" u="none" strike="noStrike">
                          <a:solidFill>
                            <a:srgbClr val="FFCE00"/>
                          </a:solidFill>
                          <a:effectLst/>
                          <a:latin typeface="Nunito" pitchFamily="2" charset="0"/>
                        </a:rPr>
                        <a:t>Duration / Time Commitment</a:t>
                      </a:r>
                      <a:endParaRPr lang="en-SG" sz="2000" b="1">
                        <a:solidFill>
                          <a:srgbClr val="FFCE00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>
                    <a:solidFill>
                      <a:srgbClr val="00274D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1" u="none" strike="noStrike">
                          <a:solidFill>
                            <a:srgbClr val="FFCE00"/>
                          </a:solidFill>
                          <a:effectLst/>
                          <a:latin typeface="Nunito" pitchFamily="2" charset="0"/>
                        </a:rPr>
                        <a:t>Involvement</a:t>
                      </a:r>
                      <a:endParaRPr lang="en-SG" sz="2000" b="1">
                        <a:solidFill>
                          <a:srgbClr val="FFCE00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>
                    <a:solidFill>
                      <a:srgbClr val="0027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52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One year Internship*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One year / full-time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Follow through entire duration of satellite development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3755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Internship*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One semester or trimester or holiday period / full-time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Involvement to be determined  by Space Faculty </a:t>
                      </a:r>
                      <a:endParaRPr lang="en-SG" sz="2000">
                        <a:solidFill>
                          <a:srgbClr val="00274D"/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849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Final year / Capstone Project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One year / part-time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Follow through entire duration of satellite development. Scope determined with university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000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Project Module 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One semester or trimester / part-time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Defined sub-system / module project with university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125689"/>
                  </a:ext>
                </a:extLst>
              </a:tr>
              <a:tr h="44026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Self-interest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Part-time</a:t>
                      </a:r>
                      <a:endParaRPr lang="en-SG" sz="2000" b="0">
                        <a:solidFill>
                          <a:srgbClr val="00274D"/>
                        </a:solidFill>
                        <a:effectLst/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SG" sz="2000" b="0" u="none" strike="noStrike">
                          <a:solidFill>
                            <a:srgbClr val="00274D"/>
                          </a:solidFill>
                          <a:effectLst/>
                          <a:latin typeface="Nunito" pitchFamily="2" charset="0"/>
                        </a:rPr>
                        <a:t>Depends</a:t>
                      </a:r>
                      <a:endParaRPr lang="en-SG" sz="2000">
                        <a:solidFill>
                          <a:srgbClr val="00274D"/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73516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AE6B2EB-7CE2-5B37-9414-58D4FA1BC43A}"/>
              </a:ext>
            </a:extLst>
          </p:cNvPr>
          <p:cNvSpPr txBox="1"/>
          <p:nvPr/>
        </p:nvSpPr>
        <p:spPr>
          <a:xfrm>
            <a:off x="1024798" y="5981382"/>
            <a:ext cx="28062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/>
              <a:t>* Internships will be very limited</a:t>
            </a:r>
          </a:p>
        </p:txBody>
      </p:sp>
    </p:spTree>
    <p:extLst>
      <p:ext uri="{BB962C8B-B14F-4D97-AF65-F5344CB8AC3E}">
        <p14:creationId xmlns:p14="http://schemas.microsoft.com/office/powerpoint/2010/main" val="57632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4EAB3-CF0B-879E-6A78-97A91BD9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4D811-0D34-0E96-923C-0B4CFDEF4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Satellite Building Project</a:t>
            </a:r>
            <a:endParaRPr lang="en-SG">
              <a:solidFill>
                <a:srgbClr val="00274D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C3F1-576C-4DDA-4ABB-460611196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sz="2000"/>
              <a:t>After selection, participants will be grouped into teams to work on a sub-system or module</a:t>
            </a:r>
          </a:p>
          <a:p>
            <a:pPr>
              <a:lnSpc>
                <a:spcPct val="100000"/>
              </a:lnSpc>
            </a:pPr>
            <a:r>
              <a:rPr lang="en-SG" sz="2000"/>
              <a:t>For those who can commit for at least one year, they might be chosen as system engineers or project manager</a:t>
            </a:r>
          </a:p>
          <a:p>
            <a:pPr>
              <a:lnSpc>
                <a:spcPct val="100000"/>
              </a:lnSpc>
            </a:pPr>
            <a:r>
              <a:rPr lang="en-SG" sz="2000"/>
              <a:t>Contribute towards the satellite design, development, integration, testing and operation</a:t>
            </a:r>
          </a:p>
          <a:p>
            <a:pPr>
              <a:lnSpc>
                <a:spcPct val="100000"/>
              </a:lnSpc>
            </a:pPr>
            <a:r>
              <a:rPr lang="en-SG" sz="2000"/>
              <a:t>Attend technical review meetings</a:t>
            </a:r>
          </a:p>
          <a:p>
            <a:pPr>
              <a:lnSpc>
                <a:spcPct val="100000"/>
              </a:lnSpc>
            </a:pPr>
            <a:r>
              <a:rPr lang="en-SG" sz="2000"/>
              <a:t>Do more, learn more!</a:t>
            </a:r>
          </a:p>
        </p:txBody>
      </p:sp>
    </p:spTree>
    <p:extLst>
      <p:ext uri="{BB962C8B-B14F-4D97-AF65-F5344CB8AC3E}">
        <p14:creationId xmlns:p14="http://schemas.microsoft.com/office/powerpoint/2010/main" val="2729189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CD2C1-C81C-654E-915E-DFF4F0E09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A362-AFDE-28B1-9994-A2A3113B1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Satellite Building Project</a:t>
            </a:r>
            <a:endParaRPr lang="en-SG">
              <a:solidFill>
                <a:srgbClr val="00274D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37C04-319E-B7F0-8E22-8DFE40673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SG" sz="2000" dirty="0">
                <a:latin typeface="Nunito"/>
              </a:rPr>
              <a:t>If you are interested, write an email to us:</a:t>
            </a:r>
          </a:p>
          <a:p>
            <a:pPr lvl="1">
              <a:lnSpc>
                <a:spcPct val="100000"/>
              </a:lnSpc>
            </a:pPr>
            <a:r>
              <a:rPr lang="en-SG" sz="1800" b="1" dirty="0">
                <a:latin typeface="Nunito"/>
              </a:rPr>
              <a:t>Address</a:t>
            </a:r>
            <a:r>
              <a:rPr lang="en-SG" sz="1800" dirty="0">
                <a:latin typeface="Nunito"/>
              </a:rPr>
              <a:t>: nelson.tan@spacefaculty.asia</a:t>
            </a:r>
          </a:p>
          <a:p>
            <a:pPr lvl="1">
              <a:lnSpc>
                <a:spcPct val="100000"/>
              </a:lnSpc>
            </a:pPr>
            <a:r>
              <a:rPr lang="en-SG" sz="1800" b="1" dirty="0">
                <a:latin typeface="Nunito"/>
              </a:rPr>
              <a:t>Subject</a:t>
            </a:r>
            <a:r>
              <a:rPr lang="en-SG" sz="1800" dirty="0">
                <a:latin typeface="Nunito"/>
              </a:rPr>
              <a:t>: “Application for Satellite Building Project”</a:t>
            </a:r>
          </a:p>
          <a:p>
            <a:pPr lvl="1">
              <a:lnSpc>
                <a:spcPct val="100000"/>
              </a:lnSpc>
            </a:pPr>
            <a:r>
              <a:rPr lang="en-GB" sz="2000" dirty="0"/>
              <a:t>Treat it like a job application and send us your resume!</a:t>
            </a:r>
          </a:p>
          <a:p>
            <a:pPr lvl="1">
              <a:lnSpc>
                <a:spcPct val="100000"/>
              </a:lnSpc>
            </a:pPr>
            <a:r>
              <a:rPr lang="en-GB" sz="2000" dirty="0"/>
              <a:t>What are your skills or strengths?</a:t>
            </a:r>
          </a:p>
          <a:p>
            <a:pPr lvl="1">
              <a:lnSpc>
                <a:spcPct val="100000"/>
              </a:lnSpc>
            </a:pPr>
            <a:r>
              <a:rPr lang="en-GB" sz="2000" dirty="0"/>
              <a:t>What would you like to work on? How do you think that you can contribute to the project team?</a:t>
            </a:r>
          </a:p>
          <a:p>
            <a:pPr lvl="1">
              <a:lnSpc>
                <a:spcPct val="100000"/>
              </a:lnSpc>
            </a:pPr>
            <a:r>
              <a:rPr lang="en-GB" sz="2000" dirty="0">
                <a:latin typeface="Nunito"/>
              </a:rPr>
              <a:t>How are you intending to join the project? How much time can you commit to the project (for the different phases)?</a:t>
            </a:r>
          </a:p>
          <a:p>
            <a:pPr>
              <a:lnSpc>
                <a:spcPct val="100000"/>
              </a:lnSpc>
            </a:pPr>
            <a:r>
              <a:rPr lang="en-GB" sz="2000" dirty="0"/>
              <a:t>Do so </a:t>
            </a:r>
            <a:r>
              <a:rPr lang="en-GB" sz="2000"/>
              <a:t>before 3rd </a:t>
            </a:r>
            <a:r>
              <a:rPr lang="en-GB" sz="2000" dirty="0"/>
              <a:t>July!</a:t>
            </a:r>
            <a:endParaRPr lang="en-GB" sz="2400" dirty="0"/>
          </a:p>
          <a:p>
            <a:pPr>
              <a:lnSpc>
                <a:spcPct val="100000"/>
              </a:lnSpc>
            </a:pPr>
            <a:endParaRPr lang="en-GB" sz="2000" dirty="0"/>
          </a:p>
          <a:p>
            <a:pPr marL="0" indent="0">
              <a:lnSpc>
                <a:spcPct val="100000"/>
              </a:lnSpc>
              <a:buNone/>
            </a:pPr>
            <a:endParaRPr lang="en-GB" sz="1800" dirty="0"/>
          </a:p>
          <a:p>
            <a:pPr>
              <a:lnSpc>
                <a:spcPct val="100000"/>
              </a:lnSpc>
            </a:pPr>
            <a:endParaRPr lang="en-GB" sz="1800" dirty="0">
              <a:solidFill>
                <a:srgbClr val="0027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482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63151-FA1C-472B-BB5C-1B5F4BA13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DA570-10DC-A70A-64B9-FB193AACB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132" y="2380987"/>
            <a:ext cx="6574367" cy="1744132"/>
          </a:xfrm>
        </p:spPr>
        <p:txBody>
          <a:bodyPr>
            <a:normAutofit/>
          </a:bodyPr>
          <a:lstStyle/>
          <a:p>
            <a:r>
              <a:rPr lang="en-SG"/>
              <a:t>Satellite Building Workshop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2E25E31-B145-DCBC-092F-C2EB989E53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SG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620037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C319-9611-C13F-B572-64AD6887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Post-Workshop Survey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B1F2C15-DAD2-A3F0-9569-223E38F58E23}"/>
              </a:ext>
            </a:extLst>
          </p:cNvPr>
          <p:cNvSpPr/>
          <p:nvPr/>
        </p:nvSpPr>
        <p:spPr>
          <a:xfrm>
            <a:off x="3536949" y="1439040"/>
            <a:ext cx="4752207" cy="4841110"/>
          </a:xfrm>
          <a:custGeom>
            <a:avLst/>
            <a:gdLst/>
            <a:ahLst/>
            <a:cxnLst/>
            <a:rect l="l" t="t" r="r" b="b"/>
            <a:pathLst>
              <a:path w="7680853" h="7824542">
                <a:moveTo>
                  <a:pt x="0" y="0"/>
                </a:moveTo>
                <a:lnTo>
                  <a:pt x="7680853" y="0"/>
                </a:lnTo>
                <a:lnTo>
                  <a:pt x="7680853" y="7824542"/>
                </a:lnTo>
                <a:lnTo>
                  <a:pt x="0" y="7824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76374055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864b5ad-5179-411d-83ff-2b42c960e700" xsi:nil="true"/>
    <lcf76f155ced4ddcb4097134ff3c332f xmlns="4bae808c-c7c7-462a-8f11-42d17f08011f">
      <Terms xmlns="http://schemas.microsoft.com/office/infopath/2007/PartnerControls"/>
    </lcf76f155ced4ddcb4097134ff3c332f>
    <_dlc_DocId xmlns="0864b5ad-5179-411d-83ff-2b42c960e700">4RQYTM3TFP2F-1212208645-71765</_dlc_DocId>
    <_dlc_DocIdUrl xmlns="0864b5ad-5179-411d-83ff-2b42c960e700">
      <Url>https://spacefacultyasia.sharepoint.com/sites/EducationTeam/_layouts/15/DocIdRedir.aspx?ID=4RQYTM3TFP2F-1212208645-71765</Url>
      <Description>4RQYTM3TFP2F-1212208645-71765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DA2A4E3E24884FBF8D86E80EDEE418" ma:contentTypeVersion="18" ma:contentTypeDescription="Create a new document." ma:contentTypeScope="" ma:versionID="72c99756f47266f129ff3fdfbe78cbc1">
  <xsd:schema xmlns:xsd="http://www.w3.org/2001/XMLSchema" xmlns:xs="http://www.w3.org/2001/XMLSchema" xmlns:p="http://schemas.microsoft.com/office/2006/metadata/properties" xmlns:ns2="4bae808c-c7c7-462a-8f11-42d17f08011f" xmlns:ns3="0864b5ad-5179-411d-83ff-2b42c960e700" targetNamespace="http://schemas.microsoft.com/office/2006/metadata/properties" ma:root="true" ma:fieldsID="7ea14b31d73042bbb7607aa151d3356f" ns2:_="" ns3:_="">
    <xsd:import namespace="4bae808c-c7c7-462a-8f11-42d17f08011f"/>
    <xsd:import namespace="0864b5ad-5179-411d-83ff-2b42c960e7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3:_dlc_DocId" minOccurs="0"/>
                <xsd:element ref="ns3:_dlc_DocIdUrl" minOccurs="0"/>
                <xsd:element ref="ns3:_dlc_DocIdPersistId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ae808c-c7c7-462a-8f11-42d17f0801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69a0abb-c72f-49bc-9a93-3a7f88dd36f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4b5ad-5179-411d-83ff-2b42c960e70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829137c-4016-45b1-82d5-028f5138b056}" ma:internalName="TaxCatchAll" ma:showField="CatchAllData" ma:web="0864b5ad-5179-411d-83ff-2b42c960e7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_dlc_DocId" ma:index="25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6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7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3C5659D0-D891-4260-86C2-B3031C94157E}">
  <ds:schemaRefs>
    <ds:schemaRef ds:uri="0864b5ad-5179-411d-83ff-2b42c960e700"/>
    <ds:schemaRef ds:uri="4bae808c-c7c7-462a-8f11-42d17f08011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7E526D8-8F0B-4262-AC3E-AAC79EAA72F0}">
  <ds:schemaRefs>
    <ds:schemaRef ds:uri="0864b5ad-5179-411d-83ff-2b42c960e700"/>
    <ds:schemaRef ds:uri="4bae808c-c7c7-462a-8f11-42d17f0801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A2F5581-85CE-4303-B218-7AF17F161469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3A15366-3CD7-4AF6-872D-4B0CD0AD9DE1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412</Words>
  <Application>Microsoft Office PowerPoint</Application>
  <PresentationFormat>Widescreen</PresentationFormat>
  <Paragraphs>68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Nunito</vt:lpstr>
      <vt:lpstr>Barlow Bold</vt:lpstr>
      <vt:lpstr>Nunito Bold</vt:lpstr>
      <vt:lpstr>Nunito Ultra-Bold</vt:lpstr>
      <vt:lpstr>Roboto</vt:lpstr>
      <vt:lpstr>Raleway</vt:lpstr>
      <vt:lpstr>Arial</vt:lpstr>
      <vt:lpstr>1_Custom Design</vt:lpstr>
      <vt:lpstr>PowerPoint Presentation</vt:lpstr>
      <vt:lpstr>PowerPoint Presentation</vt:lpstr>
      <vt:lpstr>Satellite Building  Project</vt:lpstr>
      <vt:lpstr>Industry Engagement Sessions</vt:lpstr>
      <vt:lpstr>Satellite Building Project</vt:lpstr>
      <vt:lpstr>PowerPoint Presentation</vt:lpstr>
      <vt:lpstr>Satellite Building Project</vt:lpstr>
      <vt:lpstr>Satellite Building Project</vt:lpstr>
      <vt:lpstr>Satellite Building Workshop</vt:lpstr>
      <vt:lpstr>Post-Workshop Survey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Lam Lap</dc:creator>
  <cp:lastModifiedBy>Rohini Parthasarathy</cp:lastModifiedBy>
  <cp:revision>1</cp:revision>
  <dcterms:created xsi:type="dcterms:W3CDTF">2025-10-07T02:59:10Z</dcterms:created>
  <dcterms:modified xsi:type="dcterms:W3CDTF">2026-06-19T06:58:22Z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0x0101006FDA2A4E3E24884FBF8D86E80EDEE418</vt:lpwstr>
  </property>
  <property fmtid="{D5CDD505-2E9C-101B-9397-08002B2CF9AE}" pid="3" name="_dlc_DocIdItemGuid">
    <vt:lpwstr>bed31f39-2015-4fe4-b25e-856a5895f589</vt:lpwstr>
  </property>
  <property fmtid="{D5CDD505-2E9C-101B-9397-08002B2CF9AE}" pid="4" name="MediaServiceImageTags">
    <vt:lpwstr/>
  </property>
</Properties>
</file>